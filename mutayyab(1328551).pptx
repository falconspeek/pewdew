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1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NO. OF POPULATION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PAKISTAN</c:v>
                </c:pt>
                <c:pt idx="1">
                  <c:v>TURKEY</c:v>
                </c:pt>
                <c:pt idx="2">
                  <c:v>FRANCE</c:v>
                </c:pt>
                <c:pt idx="3">
                  <c:v>ITALY 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E7B-41E3-A5A6-CAC8B5B7830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PAKISTAN</c:v>
                </c:pt>
                <c:pt idx="1">
                  <c:v>TURKEY</c:v>
                </c:pt>
                <c:pt idx="2">
                  <c:v>FRANCE</c:v>
                </c:pt>
                <c:pt idx="3">
                  <c:v>ITALY 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E7B-41E3-A5A6-CAC8B5B7830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PAKISTAN</c:v>
                </c:pt>
                <c:pt idx="1">
                  <c:v>TURKEY</c:v>
                </c:pt>
                <c:pt idx="2">
                  <c:v>FRANCE</c:v>
                </c:pt>
                <c:pt idx="3">
                  <c:v>ITALY 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E7B-41E3-A5A6-CAC8B5B783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69351328"/>
        <c:axId val="469353296"/>
      </c:lineChart>
      <c:catAx>
        <c:axId val="469351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9353296"/>
        <c:crosses val="autoZero"/>
        <c:auto val="1"/>
        <c:lblAlgn val="ctr"/>
        <c:lblOffset val="100"/>
        <c:noMultiLvlLbl val="0"/>
      </c:catAx>
      <c:valAx>
        <c:axId val="4693532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93513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C6C4A-F619-4532-9500-826D9617EF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DC62A1-E1CC-4E06-BC2A-C50E05E34E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DB95F-2B0E-4CE7-8389-725B5F5C6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98208-CD5A-46AE-8048-2DEEA492DCDE}" type="datetimeFigureOut">
              <a:rPr lang="en-US" smtClean="0"/>
              <a:t>10/4/2021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FA826-44A5-41C7-955A-A0ACE5CAB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83EDA-2D63-4D65-8B4C-0799E5753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B9E87-8381-4BE3-971B-76C6FE6C5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91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F5BDA-19E5-4D47-9EFD-47EFAB3CA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20C9F-88E3-4C9C-BC07-77CAEA458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C4527-3EF7-41B5-9069-53C189051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98208-CD5A-46AE-8048-2DEEA492DCDE}" type="datetimeFigureOut">
              <a:rPr lang="en-US" smtClean="0"/>
              <a:t>10/4/2021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0BD55-01C5-45AC-9C8C-182880FB5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29375-C59B-4606-A97E-FB9F1DF89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B9E87-8381-4BE3-971B-76C6FE6C5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773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36EAC-E4C1-493B-B282-B4B5E06D5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48DC4-CBF6-4BE2-9C08-3AC4591DB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439C1-C6D8-4D72-99E5-04EF075F6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98208-CD5A-46AE-8048-2DEEA492DCDE}" type="datetimeFigureOut">
              <a:rPr lang="en-US" smtClean="0"/>
              <a:t>10/4/2021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A87B1-D1F5-4002-9879-766D6E89A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33446-3C54-4614-ABF9-9FE453DC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B9E87-8381-4BE3-971B-76C6FE6C5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381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EA2BA-1E16-4F4F-A075-4F7585FAB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CBBFD-F784-4527-BD1C-06E51C3277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A7E4A6-BCA3-437C-806C-E2A5E6A2AD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479093-99CD-41F8-BC99-F5D769A81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98208-CD5A-46AE-8048-2DEEA492DCDE}" type="datetimeFigureOut">
              <a:rPr lang="en-US" smtClean="0"/>
              <a:t>10/4/2021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3FED29-0FE2-417D-80B8-D73304AA8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B8615-4FA6-4D67-A313-DC7FE6EA4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B9E87-8381-4BE3-971B-76C6FE6C5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278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77C74-CFDB-43F8-B4C0-7B7D7EF4F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5F5B65-88A6-4C9C-BEC1-3ADDF5EDB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B2D0D5-47BB-4841-B27A-B4553D4F6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D11668-D0E1-47DB-B3F5-B09AD9236D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A538FE-6432-4969-AC06-02A5BDCCC6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8F6122-A5A6-4CFD-9C41-28B16D64F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98208-CD5A-46AE-8048-2DEEA492DCDE}" type="datetimeFigureOut">
              <a:rPr lang="en-US" smtClean="0"/>
              <a:t>10/4/2021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D2247F-9C1D-45A2-87E3-F4BA8718A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59F020-D749-43A7-BBA9-AEBF7276E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B9E87-8381-4BE3-971B-76C6FE6C5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229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2E2F1-566E-4D59-8D12-72B4CD8FF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0D1DFE-E31A-4239-B6A5-755159C8D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98208-CD5A-46AE-8048-2DEEA492DCDE}" type="datetimeFigureOut">
              <a:rPr lang="en-US" smtClean="0"/>
              <a:t>10/4/2021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97C1A9-D95D-4011-99B5-B797A6A65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E1206F-FCA7-4E3B-9B94-8EF9244FC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B9E87-8381-4BE3-971B-76C6FE6C5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446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395316-D028-4207-BA10-EF9896E4C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98208-CD5A-46AE-8048-2DEEA492DCDE}" type="datetimeFigureOut">
              <a:rPr lang="en-US" smtClean="0"/>
              <a:t>10/4/2021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907C92-B55B-4271-B907-691F45EEC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E3853-0A52-4668-A5F2-AE67A9ED7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B9E87-8381-4BE3-971B-76C6FE6C5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12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95AC2-C7F1-4D1C-804E-C30DB2CEF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3FA78-3BCD-465E-8BC2-2C839C032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3A87E7-75BE-4D80-AC26-0B43793401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9FCCA7-F975-4E88-8F97-E92F5CB38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98208-CD5A-46AE-8048-2DEEA492DCDE}" type="datetimeFigureOut">
              <a:rPr lang="en-US" smtClean="0"/>
              <a:t>10/4/2021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41CC5B-6D79-4645-AB69-11292AE84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1F1858-E84A-44BC-9883-BC2A79BED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B9E87-8381-4BE3-971B-76C6FE6C5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020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7D32F-0269-47FC-8256-56E131FA7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74D14D-D62C-436D-9FB1-3C660C9EC8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894C2B-7CAA-4D33-932E-7841F87154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626482-3958-4F46-A42B-1FCE5D6C1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98208-CD5A-46AE-8048-2DEEA492DCDE}" type="datetimeFigureOut">
              <a:rPr lang="en-US" smtClean="0"/>
              <a:t>10/4/2021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F8887C-B7FA-4B7D-9679-9B8B1E5CC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260291-5C4C-4525-B84F-784BF7175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B9E87-8381-4BE3-971B-76C6FE6C5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25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AAE36-61D7-4D13-A115-FEEB697D1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ADEB8E-0FFD-4E0A-974D-27553AA021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5C7E2-56E3-435D-86DD-E86F9C3F6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98208-CD5A-46AE-8048-2DEEA492DCDE}" type="datetimeFigureOut">
              <a:rPr lang="en-US" smtClean="0"/>
              <a:t>10/4/2021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CB99D-D72D-47E6-8190-D4D000F1A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61B06-2F2B-41D1-8C79-952FF7BC1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B9E87-8381-4BE3-971B-76C6FE6C5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881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5B574E-F344-46BD-839A-477CD7803B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135EED-0D2C-4903-827D-D9E7A06A4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CEED1-2D6E-4BE8-962C-0CFA1AF8E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98208-CD5A-46AE-8048-2DEEA492DCDE}" type="datetimeFigureOut">
              <a:rPr lang="en-US" smtClean="0"/>
              <a:t>10/4/2021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5A3C0-8BE4-456E-B9A7-FCE3E92BD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E746C-81CE-4900-9EC7-C356F71FE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B9E87-8381-4BE3-971B-76C6FE6C5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82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25DB3B-B01D-42BD-929C-9AAD005E6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CF894-F33A-4A9E-947E-63FA562EC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8C82F-B6F9-4634-BEC4-2E6E7F75DB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598208-CD5A-46AE-8048-2DEEA492DCDE}" type="datetimeFigureOut">
              <a:rPr lang="en-US" smtClean="0"/>
              <a:t>10/4/2021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8C613-533B-4D74-9E02-F9F2D1B5A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FBAC5-55EC-46E1-A85F-9B70B4D77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0B9E87-8381-4BE3-971B-76C6FE6C5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197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journalistsresource.org/studies/environment/climate-change/research-global-warming-meaning-use-terms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slide" Target="slide1.xml"/><Relationship Id="rId4" Type="http://schemas.openxmlformats.org/officeDocument/2006/relationships/hyperlink" Target="https://creativecommons.org/licenses/by/3.0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hyperlink" Target="http://www.dictionary.com/browse/climate-chang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hyperlink" Target="https://www.google.com/" TargetMode="External"/><Relationship Id="rId4" Type="http://schemas.openxmlformats.org/officeDocument/2006/relationships/slide" Target="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AC212-3049-489C-9373-17C902A61F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37321"/>
            <a:ext cx="9144000" cy="13763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6D9220-42A9-44BB-81F4-3120DCB202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1" y="-145774"/>
            <a:ext cx="12192001" cy="80842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510D19-5293-4626-8AEB-70D6A2718F63}"/>
              </a:ext>
            </a:extLst>
          </p:cNvPr>
          <p:cNvSpPr txBox="1"/>
          <p:nvPr/>
        </p:nvSpPr>
        <p:spPr>
          <a:xfrm>
            <a:off x="4572000" y="4509516"/>
            <a:ext cx="3048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hlinkClick r:id="rId3" tooltip="http://journalistsresource.org/studies/environment/climate-change/research-global-warming-meaning-use-terms"/>
              </a:rPr>
              <a:t>This Photo</a:t>
            </a:r>
            <a:r>
              <a:rPr lang="en-US" sz="900" dirty="0"/>
              <a:t> by Unknown Author is licensed under </a:t>
            </a:r>
            <a:r>
              <a:rPr lang="en-US" sz="900" dirty="0">
                <a:hlinkClick r:id="rId4" tooltip="https://creativecommons.org/licenses/by/3.0/"/>
              </a:rPr>
              <a:t>CC BY</a:t>
            </a:r>
            <a:endParaRPr lang="en-US" sz="9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312DE4-2325-406A-9B7A-7ED5B2EFE16B}"/>
              </a:ext>
            </a:extLst>
          </p:cNvPr>
          <p:cNvSpPr/>
          <p:nvPr/>
        </p:nvSpPr>
        <p:spPr>
          <a:xfrm>
            <a:off x="438880" y="660160"/>
            <a:ext cx="418948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/>
              <a:t>GLOBAL WARMING</a:t>
            </a:r>
          </a:p>
        </p:txBody>
      </p:sp>
      <p:sp>
        <p:nvSpPr>
          <p:cNvPr id="8" name="Oval 7">
            <a:hlinkClick r:id="rId5" action="ppaction://hlinksldjump"/>
            <a:extLst>
              <a:ext uri="{FF2B5EF4-FFF2-40B4-BE49-F238E27FC236}">
                <a16:creationId xmlns:a16="http://schemas.microsoft.com/office/drawing/2014/main" id="{C0F0E88C-0159-4F84-92C4-CE862FC1DFCB}"/>
              </a:ext>
            </a:extLst>
          </p:cNvPr>
          <p:cNvSpPr/>
          <p:nvPr/>
        </p:nvSpPr>
        <p:spPr>
          <a:xfrm>
            <a:off x="9617398" y="116932"/>
            <a:ext cx="1862666" cy="519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4246035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58000">
              <a:srgbClr val="00B0F0"/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42567-9248-41BF-A91B-695CA7694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GLOBAL WARMING: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F7363-029F-4A4C-93F5-18959B6E1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INTRODUCTION:</a:t>
            </a:r>
          </a:p>
          <a:p>
            <a:r>
              <a:rPr lang="en-US" dirty="0"/>
              <a:t>Climate change</a:t>
            </a:r>
            <a:r>
              <a:rPr lang="en-US" u="sng" dirty="0">
                <a:hlinkClick r:id="rId2"/>
              </a:rPr>
              <a:t> refers</a:t>
            </a:r>
            <a:r>
              <a:rPr lang="en-US" dirty="0"/>
              <a:t> to significant, long-term changes in the global climate.</a:t>
            </a:r>
          </a:p>
          <a:p>
            <a:r>
              <a:rPr lang="en-US" dirty="0"/>
              <a:t>The global climate is the connected system of sun, earth and oceans, wind, rain and snow, forests, deserts and savannas, and everything people do, too. The climate of a place, say New York, can be described as its rainfall, changing temperatures during the year and so on.</a:t>
            </a:r>
          </a:p>
          <a:p>
            <a:r>
              <a:rPr lang="en-US" dirty="0"/>
              <a:t>But the global climate is more than the “average” of the climates of specific places.</a:t>
            </a:r>
          </a:p>
          <a:p>
            <a:r>
              <a:rPr lang="en-US" dirty="0"/>
              <a:t>It is this systemic connectedness that makes global climate change so important and so complicated.</a:t>
            </a:r>
          </a:p>
        </p:txBody>
      </p:sp>
      <p:sp>
        <p:nvSpPr>
          <p:cNvPr id="4" name="Oval 3">
            <a:hlinkClick r:id="rId3" action="ppaction://hlinksldjump"/>
            <a:extLst>
              <a:ext uri="{FF2B5EF4-FFF2-40B4-BE49-F238E27FC236}">
                <a16:creationId xmlns:a16="http://schemas.microsoft.com/office/drawing/2014/main" id="{B58887B6-5CBC-49C1-8B79-BEEABECFB701}"/>
              </a:ext>
            </a:extLst>
          </p:cNvPr>
          <p:cNvSpPr/>
          <p:nvPr/>
        </p:nvSpPr>
        <p:spPr>
          <a:xfrm>
            <a:off x="9617398" y="116932"/>
            <a:ext cx="1862666" cy="519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1110033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78BBC-0853-4E88-921A-88EB282B6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WARMING</a:t>
            </a:r>
            <a:endParaRPr lang="en-US" dirty="0">
              <a:hlinkClick r:id="rId2" action="ppaction://hlinksldjump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79F7C85-DD90-4F30-B3F4-F4B3613332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580377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Oval 3">
            <a:hlinkClick r:id="rId4" action="ppaction://hlinksldjump"/>
            <a:extLst>
              <a:ext uri="{FF2B5EF4-FFF2-40B4-BE49-F238E27FC236}">
                <a16:creationId xmlns:a16="http://schemas.microsoft.com/office/drawing/2014/main" id="{EE5DC8DF-637E-4E35-9B18-AA44970F7F1D}"/>
              </a:ext>
            </a:extLst>
          </p:cNvPr>
          <p:cNvSpPr/>
          <p:nvPr/>
        </p:nvSpPr>
        <p:spPr>
          <a:xfrm>
            <a:off x="9617398" y="116932"/>
            <a:ext cx="1862666" cy="519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2501036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941A523-0C69-4916-9179-785AFA3C12A3}"/>
              </a:ext>
            </a:extLst>
          </p:cNvPr>
          <p:cNvSpPr/>
          <p:nvPr/>
        </p:nvSpPr>
        <p:spPr>
          <a:xfrm rot="5400000">
            <a:off x="-979802" y="2623072"/>
            <a:ext cx="6858000" cy="1611857"/>
          </a:xfrm>
          <a:custGeom>
            <a:avLst/>
            <a:gdLst>
              <a:gd name="connsiteX0" fmla="*/ 0 w 6858000"/>
              <a:gd name="connsiteY0" fmla="*/ 1611856 h 1611857"/>
              <a:gd name="connsiteX1" fmla="*/ 0 w 6858000"/>
              <a:gd name="connsiteY1" fmla="*/ 790221 h 1611857"/>
              <a:gd name="connsiteX2" fmla="*/ 4973984 w 6858000"/>
              <a:gd name="connsiteY2" fmla="*/ 790222 h 1611857"/>
              <a:gd name="connsiteX3" fmla="*/ 5384802 w 6858000"/>
              <a:gd name="connsiteY3" fmla="*/ 0 h 1611857"/>
              <a:gd name="connsiteX4" fmla="*/ 5795619 w 6858000"/>
              <a:gd name="connsiteY4" fmla="*/ 790222 h 1611857"/>
              <a:gd name="connsiteX5" fmla="*/ 6858000 w 6858000"/>
              <a:gd name="connsiteY5" fmla="*/ 790222 h 1611857"/>
              <a:gd name="connsiteX6" fmla="*/ 6858000 w 6858000"/>
              <a:gd name="connsiteY6" fmla="*/ 1611857 h 1611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1611857">
                <a:moveTo>
                  <a:pt x="0" y="1611856"/>
                </a:moveTo>
                <a:lnTo>
                  <a:pt x="0" y="790221"/>
                </a:lnTo>
                <a:lnTo>
                  <a:pt x="4973984" y="790222"/>
                </a:lnTo>
                <a:lnTo>
                  <a:pt x="5384802" y="0"/>
                </a:lnTo>
                <a:lnTo>
                  <a:pt x="5795619" y="790222"/>
                </a:lnTo>
                <a:lnTo>
                  <a:pt x="6858000" y="790222"/>
                </a:lnTo>
                <a:lnTo>
                  <a:pt x="6858000" y="1611857"/>
                </a:lnTo>
                <a:close/>
              </a:path>
            </a:pathLst>
          </a:custGeom>
          <a:solidFill>
            <a:schemeClr val="accent1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C614996-F9CE-4359-B04E-E76A6D176506}"/>
              </a:ext>
            </a:extLst>
          </p:cNvPr>
          <p:cNvSpPr/>
          <p:nvPr/>
        </p:nvSpPr>
        <p:spPr>
          <a:xfrm rot="5400000">
            <a:off x="-1801438" y="2623073"/>
            <a:ext cx="6858000" cy="1611855"/>
          </a:xfrm>
          <a:custGeom>
            <a:avLst/>
            <a:gdLst>
              <a:gd name="connsiteX0" fmla="*/ 0 w 6858000"/>
              <a:gd name="connsiteY0" fmla="*/ 1611854 h 1611855"/>
              <a:gd name="connsiteX1" fmla="*/ 0 w 6858000"/>
              <a:gd name="connsiteY1" fmla="*/ 790219 h 1611855"/>
              <a:gd name="connsiteX2" fmla="*/ 3836631 w 6858000"/>
              <a:gd name="connsiteY2" fmla="*/ 790219 h 1611855"/>
              <a:gd name="connsiteX3" fmla="*/ 4247448 w 6858000"/>
              <a:gd name="connsiteY3" fmla="*/ 0 h 1611855"/>
              <a:gd name="connsiteX4" fmla="*/ 4658264 w 6858000"/>
              <a:gd name="connsiteY4" fmla="*/ 790219 h 1611855"/>
              <a:gd name="connsiteX5" fmla="*/ 6858000 w 6858000"/>
              <a:gd name="connsiteY5" fmla="*/ 790220 h 1611855"/>
              <a:gd name="connsiteX6" fmla="*/ 6858000 w 6858000"/>
              <a:gd name="connsiteY6" fmla="*/ 1611855 h 16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1611855">
                <a:moveTo>
                  <a:pt x="0" y="1611854"/>
                </a:moveTo>
                <a:lnTo>
                  <a:pt x="0" y="790219"/>
                </a:lnTo>
                <a:lnTo>
                  <a:pt x="3836631" y="790219"/>
                </a:lnTo>
                <a:lnTo>
                  <a:pt x="4247448" y="0"/>
                </a:lnTo>
                <a:lnTo>
                  <a:pt x="4658264" y="790219"/>
                </a:lnTo>
                <a:lnTo>
                  <a:pt x="6858000" y="790220"/>
                </a:lnTo>
                <a:lnTo>
                  <a:pt x="6858000" y="1611855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41000">
                <a:schemeClr val="accent1">
                  <a:lumMod val="45000"/>
                  <a:lumOff val="55000"/>
                </a:schemeClr>
              </a:gs>
              <a:gs pos="58000">
                <a:srgbClr val="00B05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8274E94-E6FE-4911-8C1F-92968F6E8E4F}"/>
              </a:ext>
            </a:extLst>
          </p:cNvPr>
          <p:cNvSpPr/>
          <p:nvPr/>
        </p:nvSpPr>
        <p:spPr>
          <a:xfrm rot="5400000">
            <a:off x="-2623072" y="2623073"/>
            <a:ext cx="6858000" cy="1611855"/>
          </a:xfrm>
          <a:custGeom>
            <a:avLst/>
            <a:gdLst>
              <a:gd name="connsiteX0" fmla="*/ 0 w 6858000"/>
              <a:gd name="connsiteY0" fmla="*/ 1611855 h 1611855"/>
              <a:gd name="connsiteX1" fmla="*/ 0 w 6858000"/>
              <a:gd name="connsiteY1" fmla="*/ 790220 h 1611855"/>
              <a:gd name="connsiteX2" fmla="*/ 2767008 w 6858000"/>
              <a:gd name="connsiteY2" fmla="*/ 790220 h 1611855"/>
              <a:gd name="connsiteX3" fmla="*/ 3177825 w 6858000"/>
              <a:gd name="connsiteY3" fmla="*/ 0 h 1611855"/>
              <a:gd name="connsiteX4" fmla="*/ 3588641 w 6858000"/>
              <a:gd name="connsiteY4" fmla="*/ 790221 h 1611855"/>
              <a:gd name="connsiteX5" fmla="*/ 6858000 w 6858000"/>
              <a:gd name="connsiteY5" fmla="*/ 790221 h 1611855"/>
              <a:gd name="connsiteX6" fmla="*/ 6858000 w 6858000"/>
              <a:gd name="connsiteY6" fmla="*/ 1611855 h 16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1611855">
                <a:moveTo>
                  <a:pt x="0" y="1611855"/>
                </a:moveTo>
                <a:lnTo>
                  <a:pt x="0" y="790220"/>
                </a:lnTo>
                <a:lnTo>
                  <a:pt x="2767008" y="790220"/>
                </a:lnTo>
                <a:lnTo>
                  <a:pt x="3177825" y="0"/>
                </a:lnTo>
                <a:lnTo>
                  <a:pt x="3588641" y="790221"/>
                </a:lnTo>
                <a:lnTo>
                  <a:pt x="6858000" y="790221"/>
                </a:lnTo>
                <a:lnTo>
                  <a:pt x="6858000" y="1611855"/>
                </a:lnTo>
                <a:close/>
              </a:path>
            </a:pathLst>
          </a:cu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BD6B10-AFE6-4B48-8AEF-AC71FFFF6DA6}"/>
              </a:ext>
            </a:extLst>
          </p:cNvPr>
          <p:cNvSpPr txBox="1"/>
          <p:nvPr/>
        </p:nvSpPr>
        <p:spPr>
          <a:xfrm>
            <a:off x="767643" y="3003224"/>
            <a:ext cx="243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9D511A-8029-4B0D-97DE-038FD24167AF}"/>
              </a:ext>
            </a:extLst>
          </p:cNvPr>
          <p:cNvSpPr txBox="1"/>
          <p:nvPr/>
        </p:nvSpPr>
        <p:spPr>
          <a:xfrm>
            <a:off x="957591" y="3238500"/>
            <a:ext cx="243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731008-F7B7-4093-AA69-C96778D13680}"/>
              </a:ext>
            </a:extLst>
          </p:cNvPr>
          <p:cNvSpPr txBox="1"/>
          <p:nvPr/>
        </p:nvSpPr>
        <p:spPr>
          <a:xfrm>
            <a:off x="1109991" y="3390900"/>
            <a:ext cx="243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B74F5EE-07F5-4FD8-8A8E-C61C5710B28C}"/>
              </a:ext>
            </a:extLst>
          </p:cNvPr>
          <p:cNvSpPr txBox="1"/>
          <p:nvPr/>
        </p:nvSpPr>
        <p:spPr>
          <a:xfrm>
            <a:off x="1262391" y="3543300"/>
            <a:ext cx="243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84CB0EE-5897-48F8-A9B5-16C2B32ACA32}"/>
              </a:ext>
            </a:extLst>
          </p:cNvPr>
          <p:cNvSpPr txBox="1"/>
          <p:nvPr/>
        </p:nvSpPr>
        <p:spPr>
          <a:xfrm>
            <a:off x="1414791" y="3695700"/>
            <a:ext cx="243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E0C84C4-3B1C-404C-9BF3-452025D71A18}"/>
              </a:ext>
            </a:extLst>
          </p:cNvPr>
          <p:cNvSpPr txBox="1"/>
          <p:nvPr/>
        </p:nvSpPr>
        <p:spPr>
          <a:xfrm>
            <a:off x="1567191" y="3848100"/>
            <a:ext cx="243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588070E-62B3-41C6-AB3A-155480B85871}"/>
              </a:ext>
            </a:extLst>
          </p:cNvPr>
          <p:cNvSpPr txBox="1"/>
          <p:nvPr/>
        </p:nvSpPr>
        <p:spPr>
          <a:xfrm>
            <a:off x="1467430" y="4125710"/>
            <a:ext cx="243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2F4E8C7-E45F-404F-B746-809A42E5780E}"/>
              </a:ext>
            </a:extLst>
          </p:cNvPr>
          <p:cNvSpPr txBox="1"/>
          <p:nvPr/>
        </p:nvSpPr>
        <p:spPr>
          <a:xfrm>
            <a:off x="1689160" y="4093444"/>
            <a:ext cx="243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17FA42A-14C3-45E4-B8CC-AB6323AD1CD6}"/>
              </a:ext>
            </a:extLst>
          </p:cNvPr>
          <p:cNvSpPr txBox="1"/>
          <p:nvPr/>
        </p:nvSpPr>
        <p:spPr>
          <a:xfrm>
            <a:off x="2331644" y="5225344"/>
            <a:ext cx="243939" cy="369332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B69C82-3DFF-43CC-B373-4E68F8E7820C}"/>
              </a:ext>
            </a:extLst>
          </p:cNvPr>
          <p:cNvSpPr txBox="1"/>
          <p:nvPr/>
        </p:nvSpPr>
        <p:spPr>
          <a:xfrm>
            <a:off x="957591" y="3086100"/>
            <a:ext cx="91539" cy="609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3D7DC95-9CBF-4475-B5A5-61B912E25704}"/>
              </a:ext>
            </a:extLst>
          </p:cNvPr>
          <p:cNvSpPr txBox="1"/>
          <p:nvPr/>
        </p:nvSpPr>
        <p:spPr>
          <a:xfrm>
            <a:off x="8356209" y="618978"/>
            <a:ext cx="34887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SIDE CHECK:</a:t>
            </a:r>
          </a:p>
          <a:p>
            <a:r>
              <a:rPr lang="en-US" dirty="0"/>
              <a:t> </a:t>
            </a:r>
            <a:r>
              <a:rPr lang="en-US" dirty="0">
                <a:hlinkClick r:id="rId2" action="ppaction://hlinksldjump"/>
              </a:rPr>
              <a:t>SIDE 1</a:t>
            </a:r>
            <a:endParaRPr lang="en-US" dirty="0"/>
          </a:p>
          <a:p>
            <a:r>
              <a:rPr lang="en-US" dirty="0"/>
              <a:t> </a:t>
            </a:r>
            <a:r>
              <a:rPr lang="en-US" dirty="0">
                <a:hlinkClick r:id="rId3" action="ppaction://hlinksldjump"/>
              </a:rPr>
              <a:t>SIDE 2</a:t>
            </a:r>
            <a:endParaRPr lang="en-US" dirty="0"/>
          </a:p>
          <a:p>
            <a:r>
              <a:rPr lang="en-US" dirty="0"/>
              <a:t> </a:t>
            </a:r>
            <a:r>
              <a:rPr lang="en-US" dirty="0">
                <a:hlinkClick r:id="rId4" action="ppaction://hlinksldjump"/>
              </a:rPr>
              <a:t>SIDE 3</a:t>
            </a:r>
            <a:endParaRPr lang="en-US" dirty="0"/>
          </a:p>
        </p:txBody>
      </p:sp>
      <p:sp>
        <p:nvSpPr>
          <p:cNvPr id="40" name="TextBox 39">
            <a:hlinkClick r:id="rId5"/>
            <a:extLst>
              <a:ext uri="{FF2B5EF4-FFF2-40B4-BE49-F238E27FC236}">
                <a16:creationId xmlns:a16="http://schemas.microsoft.com/office/drawing/2014/main" id="{93068674-EB97-4B8D-B672-5A19276D8839}"/>
              </a:ext>
            </a:extLst>
          </p:cNvPr>
          <p:cNvSpPr txBox="1"/>
          <p:nvPr/>
        </p:nvSpPr>
        <p:spPr>
          <a:xfrm>
            <a:off x="6752986" y="2094300"/>
            <a:ext cx="3206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LINK : https://www.google.com/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E6A98D-8E7D-4E2B-AF99-B3B04BF5891B}"/>
              </a:ext>
            </a:extLst>
          </p:cNvPr>
          <p:cNvSpPr txBox="1"/>
          <p:nvPr/>
        </p:nvSpPr>
        <p:spPr>
          <a:xfrm>
            <a:off x="9448800" y="191911"/>
            <a:ext cx="2065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4" name="Oval 3">
            <a:hlinkClick r:id="rId6" action="ppaction://hlinksldjump"/>
            <a:extLst>
              <a:ext uri="{FF2B5EF4-FFF2-40B4-BE49-F238E27FC236}">
                <a16:creationId xmlns:a16="http://schemas.microsoft.com/office/drawing/2014/main" id="{FE433118-9DA2-467F-9DAC-CB2E20A9FE81}"/>
              </a:ext>
            </a:extLst>
          </p:cNvPr>
          <p:cNvSpPr/>
          <p:nvPr/>
        </p:nvSpPr>
        <p:spPr>
          <a:xfrm>
            <a:off x="9617398" y="116932"/>
            <a:ext cx="1862666" cy="519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2902011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55</Words>
  <Application>Microsoft Office PowerPoint</Application>
  <PresentationFormat>Widescreen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GLOBAL WARMING: </vt:lpstr>
      <vt:lpstr>GLOBAL WARMING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asp</dc:creator>
  <cp:lastModifiedBy>asp</cp:lastModifiedBy>
  <cp:revision>6</cp:revision>
  <dcterms:created xsi:type="dcterms:W3CDTF">2021-10-04T05:05:32Z</dcterms:created>
  <dcterms:modified xsi:type="dcterms:W3CDTF">2021-10-04T05:57:40Z</dcterms:modified>
</cp:coreProperties>
</file>